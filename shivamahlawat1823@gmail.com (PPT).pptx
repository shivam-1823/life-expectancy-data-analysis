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0" y="4572000"/>
            <a:ext cx="2743200" cy="2743200"/>
          </a:xfrm>
          <a:prstGeom prst="ellipse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2962FF"/>
                </a:solidFill>
              </a:defRPr>
            </a:pPr>
            <a:r>
              <a:t>Life Expectancy</a:t>
            </a:r>
          </a:p>
          <a:p>
            <a:pPr algn="ctr">
              <a:defRPr sz="5200" b="1">
                <a:solidFill>
                  <a:srgbClr val="2962FF"/>
                </a:solidFill>
              </a:defRPr>
            </a:pPr>
            <a:r>
              <a:t>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Comprehensive Descriptive &amp; Diagnostic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89120"/>
            <a:ext cx="4572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8"/>
                </a:solidFill>
              </a:defRPr>
            </a:pPr>
            <a:r>
              <a:t>193 Countries  •  2,938 Observations  •  22 Variables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📊  What is Descriptive Analysis?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7315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DESCRIPTIVE ANALYSIS -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6958956" cy="1143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Descriptive analysis is the first step in data analytics that summarizes historical data to understand "What happened?" 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It transforms raw data into meaningful insights through statistical measures and visualizations.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🎯 Primary Purpose: Summarize past events and identify patterns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📈 Output: Charts, graphs, summary statistics, and reports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💡 Business Value: Provides baseline understanding for decision-making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📍 Central Tendency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Mean (average)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Median (middle value)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Mode (most frequent)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Measures the 'center' of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320040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3200400"/>
            <a:ext cx="3657600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3246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Variability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6576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Standard deviation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Range (min to max)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Variance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Shows data spread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solidFill>
            <a:srgbClr val="00C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📈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Charts and graphs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Dashboards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Heat maps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Makes data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84632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00600" y="4846320"/>
            <a:ext cx="3657600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4892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3035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Trends over time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Seasonal patterns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Correlations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Data relationships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365"/>
                </a:solidFill>
              </a:defRPr>
            </a:pPr>
            <a:r>
              <a:t>🔍  What is Diagnostic Analysis?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7315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5328" y="1364476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DIAGNOSTIC ANALYSIS - GOING DEEPER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6120" y="1691640"/>
            <a:ext cx="6708888" cy="1143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Diagnostic analysis goes beyond describing data to understand "Why did it happen?" It uses statistical methods to 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identify cause-and-effect relationships and uncover the reasons behind observed patterns.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🎯 Primary Purpose: Understand causes and relationships between variables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📈 Output: Correlation coefficients, statistical tests, hypothesis validation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💡 Business Value: Enables evidence-based decision making and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🔗 Correlation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Pearson correlation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Spearman correlation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Measures relationships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Strength and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320040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3200400"/>
            <a:ext cx="3657600" cy="365760"/>
          </a:xfrm>
          <a:prstGeom prst="rect">
            <a:avLst/>
          </a:prstGeom>
          <a:solidFill>
            <a:srgbClr val="00C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3246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📈 Regression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6576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Linear regression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Multiple regression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Predicts outcomes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Quantifies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🧪 Hypothesis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t-tests, ANOVA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Chi-square tests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Statistical significance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Validates assumptions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84632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00600" y="4846320"/>
            <a:ext cx="3657600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4892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3035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Missing value analysis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Outlier detection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Distribution analysis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Data completeness</a:t>
            </a:r>
          </a:p>
        </p:txBody>
      </p:sp>
    </p:spTree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⚖️  Descriptive vs Diagnostic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46278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 DIFFERENCES IN ANALYTICAL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452" y="1658112"/>
            <a:ext cx="5075428" cy="20261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The two approaches complement each other to provide comprehensive data insight</a:t>
            </a:r>
            <a:r>
              <a:rPr lang="en-IN" dirty="0"/>
              <a:t>s: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b="1" u="sng" dirty="0"/>
              <a:t>DESCRIPTIVE ANALYSIS                           DIAGNOSTIC ANALYSIS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What happened?                              • Why did it happen?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Summarizes historical data             </a:t>
            </a:r>
            <a:r>
              <a:rPr lang="en-US" dirty="0"/>
              <a:t> </a:t>
            </a:r>
            <a:r>
              <a:rPr dirty="0"/>
              <a:t>• Explains causes and relationships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Basic statistical measures                 • Advanced statistical methods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Reports and dashboards                   • Correlation matrices and tests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Operational insights                        </a:t>
            </a:r>
            <a:r>
              <a:rPr lang="en-US" dirty="0"/>
              <a:t>   </a:t>
            </a:r>
            <a:r>
              <a:rPr dirty="0"/>
              <a:t>• Strategic insights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Easy to understand                         </a:t>
            </a:r>
            <a:r>
              <a:rPr lang="en-US" dirty="0"/>
              <a:t>   </a:t>
            </a:r>
            <a:r>
              <a:rPr dirty="0"/>
              <a:t> • Requires statistical knowledge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4203192"/>
            <a:ext cx="731520" cy="73152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68824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90E2"/>
                </a:solidFill>
              </a:defRPr>
            </a:pPr>
            <a:r>
              <a:rPr dirty="0"/>
              <a:t>Data Collection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rPr dirty="0"/>
              <a:t>Gather raw data from various sources</a:t>
            </a:r>
          </a:p>
        </p:txBody>
      </p:sp>
      <p:sp>
        <p:nvSpPr>
          <p:cNvPr id="10" name="Oval 9"/>
          <p:cNvSpPr/>
          <p:nvPr/>
        </p:nvSpPr>
        <p:spPr>
          <a:xfrm>
            <a:off x="3246120" y="4181856"/>
            <a:ext cx="731520" cy="73152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6144" y="5017008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962FF"/>
                </a:solidFill>
              </a:defRPr>
            </a:pPr>
            <a:r>
              <a:rPr dirty="0"/>
              <a:t>Descriptive Analysis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rPr dirty="0"/>
              <a:t>Summarize and visualize patterns</a:t>
            </a:r>
          </a:p>
        </p:txBody>
      </p:sp>
      <p:sp>
        <p:nvSpPr>
          <p:cNvPr id="12" name="Oval 11"/>
          <p:cNvSpPr/>
          <p:nvPr/>
        </p:nvSpPr>
        <p:spPr>
          <a:xfrm>
            <a:off x="5143500" y="4181856"/>
            <a:ext cx="731520" cy="731520"/>
          </a:xfrm>
          <a:prstGeom prst="ellipse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997996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4365"/>
                </a:solidFill>
              </a:defRPr>
            </a:pPr>
            <a:r>
              <a:rPr dirty="0"/>
              <a:t>Diagnostic Analysis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rPr dirty="0"/>
              <a:t>Identify causes and relationships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4143832"/>
            <a:ext cx="731520" cy="731520"/>
          </a:xfrm>
          <a:prstGeom prst="ellipse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912" y="4997996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D573"/>
                </a:solidFill>
              </a:defRPr>
            </a:pPr>
            <a:r>
              <a:rPr dirty="0"/>
              <a:t>Insights &amp; Actions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rPr dirty="0"/>
              <a:t>Make data-driven decisions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77ABAB-6CC7-F0B9-7641-C81FE260ED2A}"/>
              </a:ext>
            </a:extLst>
          </p:cNvPr>
          <p:cNvCxnSpPr/>
          <p:nvPr/>
        </p:nvCxnSpPr>
        <p:spPr>
          <a:xfrm>
            <a:off x="3797808" y="2017776"/>
            <a:ext cx="0" cy="16665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" y="123444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📊  Our Descriptive Analysis with Power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9751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POWER BI DESCRIPTIVE ANALYTICS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02715" cy="13644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We used Power BI to create interactive dashboards that answer "What happened?" in global life expectancy: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🎯 Data Summarization: Calculated averages, ranges, and distributions across 193 countries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📊 Visual Patterns: Created geographic maps, time-series charts, and comparison views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📈 Trend Identification: Analyzed 16-year trends (2000-2015) for pattern recognition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🌍 Country Comparisons: Ranked countries and identified top/bottom performers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8996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489960"/>
            <a:ext cx="365760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535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🌍 Global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716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Average: 69.22 years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Range: 52.7 years (36.3-89.0)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193 countries analyzed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0496" y="348996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30496" y="3489960"/>
            <a:ext cx="3657600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3376" y="3535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Development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3376" y="3947160"/>
            <a:ext cx="1891865" cy="702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Developed: </a:t>
            </a:r>
            <a:r>
              <a:rPr lang="en-US" dirty="0"/>
              <a:t>79</a:t>
            </a:r>
            <a:r>
              <a:rPr dirty="0"/>
              <a:t>.</a:t>
            </a:r>
            <a:r>
              <a:rPr lang="en-US" dirty="0"/>
              <a:t>20</a:t>
            </a:r>
            <a:r>
              <a:rPr dirty="0"/>
              <a:t> years avg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Developing: </a:t>
            </a:r>
            <a:r>
              <a:rPr lang="en-US" dirty="0"/>
              <a:t>67.11</a:t>
            </a:r>
            <a:r>
              <a:rPr dirty="0"/>
              <a:t> years avg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Gap: 12.09 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0800" y="521208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0800" y="5212080"/>
            <a:ext cx="3657600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33472" y="52578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📈 Time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5869" y="566928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Consistent improvement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Both groups progressing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Developing countries faster</a:t>
            </a:r>
          </a:p>
        </p:txBody>
      </p:sp>
    </p:spTree>
  </p:cSld>
  <p:clrMapOvr>
    <a:masterClrMapping/>
  </p:clrMapOvr>
  <p:transition spd="slow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8B959071-C0D4-BE4B-AA00-1E631EC1F48E}"/>
              </a:ext>
            </a:extLst>
          </p:cNvPr>
          <p:cNvSpPr/>
          <p:nvPr/>
        </p:nvSpPr>
        <p:spPr>
          <a:xfrm>
            <a:off x="0" y="0"/>
            <a:ext cx="2209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C0B5B-95FE-0D0F-0796-0CCA502A83D3}"/>
              </a:ext>
            </a:extLst>
          </p:cNvPr>
          <p:cNvSpPr/>
          <p:nvPr/>
        </p:nvSpPr>
        <p:spPr>
          <a:xfrm>
            <a:off x="0" y="0"/>
            <a:ext cx="220980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464E7-941C-6A3B-012B-7DDC9A1CFFCE}"/>
              </a:ext>
            </a:extLst>
          </p:cNvPr>
          <p:cNvSpPr txBox="1"/>
          <p:nvPr/>
        </p:nvSpPr>
        <p:spPr>
          <a:xfrm>
            <a:off x="110490" y="45720"/>
            <a:ext cx="19888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🌍 Global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0F3B9-598F-80A5-A225-315C6935267A}"/>
              </a:ext>
            </a:extLst>
          </p:cNvPr>
          <p:cNvSpPr txBox="1"/>
          <p:nvPr/>
        </p:nvSpPr>
        <p:spPr>
          <a:xfrm>
            <a:off x="110490" y="457200"/>
            <a:ext cx="19888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Average: 69.22 years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Range: 52.7 years (36.3-89.0)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193 countries analyzed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8C588940-0A3B-A640-F0DF-D617C368747E}"/>
              </a:ext>
            </a:extLst>
          </p:cNvPr>
          <p:cNvSpPr/>
          <p:nvPr/>
        </p:nvSpPr>
        <p:spPr>
          <a:xfrm>
            <a:off x="0" y="5440680"/>
            <a:ext cx="2429507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03F277-749A-F9FB-ABBA-D101CAD1E15C}"/>
              </a:ext>
            </a:extLst>
          </p:cNvPr>
          <p:cNvSpPr/>
          <p:nvPr/>
        </p:nvSpPr>
        <p:spPr>
          <a:xfrm>
            <a:off x="0" y="5440680"/>
            <a:ext cx="2429507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2EA64-7A01-2DA8-E816-5B479472A6FA}"/>
              </a:ext>
            </a:extLst>
          </p:cNvPr>
          <p:cNvSpPr txBox="1"/>
          <p:nvPr/>
        </p:nvSpPr>
        <p:spPr>
          <a:xfrm>
            <a:off x="219706" y="5486400"/>
            <a:ext cx="20688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📊 Development Status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4B967-D056-177F-7C6D-6DDC2EA517E5}"/>
              </a:ext>
            </a:extLst>
          </p:cNvPr>
          <p:cNvSpPr txBox="1"/>
          <p:nvPr/>
        </p:nvSpPr>
        <p:spPr>
          <a:xfrm>
            <a:off x="219707" y="5897880"/>
            <a:ext cx="220980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Developed: </a:t>
            </a:r>
            <a:r>
              <a:rPr lang="en-US" dirty="0"/>
              <a:t>79</a:t>
            </a:r>
            <a:r>
              <a:rPr dirty="0"/>
              <a:t>.</a:t>
            </a:r>
            <a:r>
              <a:rPr lang="en-US" dirty="0"/>
              <a:t>20</a:t>
            </a:r>
            <a:r>
              <a:rPr dirty="0"/>
              <a:t> years avg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Developing: </a:t>
            </a:r>
            <a:r>
              <a:rPr lang="en-US" dirty="0"/>
              <a:t>67.11</a:t>
            </a:r>
            <a:r>
              <a:rPr dirty="0"/>
              <a:t> years avg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Gap: 12.09 years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F720CD4-AA0F-0E69-8330-86430BC66BDC}"/>
              </a:ext>
            </a:extLst>
          </p:cNvPr>
          <p:cNvSpPr/>
          <p:nvPr/>
        </p:nvSpPr>
        <p:spPr>
          <a:xfrm>
            <a:off x="620" y="2497946"/>
            <a:ext cx="1879482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35546-824A-F42B-E8A2-0C82E5401A3A}"/>
              </a:ext>
            </a:extLst>
          </p:cNvPr>
          <p:cNvSpPr/>
          <p:nvPr/>
        </p:nvSpPr>
        <p:spPr>
          <a:xfrm>
            <a:off x="2649213" y="-76092"/>
            <a:ext cx="6682740" cy="688837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5CE07E-01F9-BEC3-E4B4-6F0585B0C74E}"/>
              </a:ext>
            </a:extLst>
          </p:cNvPr>
          <p:cNvSpPr/>
          <p:nvPr/>
        </p:nvSpPr>
        <p:spPr>
          <a:xfrm>
            <a:off x="620" y="2497946"/>
            <a:ext cx="1879482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B0EA81-4B4D-2BF3-D51D-4DFBF3DEE7B9}"/>
              </a:ext>
            </a:extLst>
          </p:cNvPr>
          <p:cNvSpPr txBox="1"/>
          <p:nvPr/>
        </p:nvSpPr>
        <p:spPr>
          <a:xfrm>
            <a:off x="-45614" y="2543666"/>
            <a:ext cx="169153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📈 Time Trends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762F39-A645-37BF-C8AC-BF43465C0A0A}"/>
              </a:ext>
            </a:extLst>
          </p:cNvPr>
          <p:cNvSpPr txBox="1"/>
          <p:nvPr/>
        </p:nvSpPr>
        <p:spPr>
          <a:xfrm>
            <a:off x="46783" y="2955146"/>
            <a:ext cx="1691534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Consistent improvement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Both groups progressing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Developing countries faster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1A4A6B-D614-E28D-6102-9349666E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954" y="4092190"/>
            <a:ext cx="3210775" cy="26969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494E05-103A-373C-8308-3B7454E3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213" y="-76092"/>
            <a:ext cx="3278258" cy="22911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E03CA6-1AF7-4EDD-56AC-59C528B2F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535" y="1618897"/>
            <a:ext cx="3323418" cy="31296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00537802"/>
      </p:ext>
    </p:extLst>
  </p:cSld>
  <p:clrMapOvr>
    <a:masterClrMapping/>
  </p:clrMapOvr>
  <p:transition spd="slow"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92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📋  Power BI Dashboard Features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INTERACTIVE DASHBOARD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992346" cy="13644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Our Power BI dashboards included multiple interactive elements for comprehensive data exploration: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🔍 Interactive Filters: Country selection, year sliders, development status toggles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📊 Statistical Cards: Key metrics with conditional formatting and trend indicators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📈 Time-Series Charts: Multi-year trends with drill-down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🏆 Performance Rankings: Top/bottom country lists with dynamic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" y="3886200"/>
            <a:ext cx="21031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9264" y="3886200"/>
            <a:ext cx="210312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3931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🏆 Success 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343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Chile: 85.0 years (developing)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Costa Rica: 79.6 years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Cuba: 79.1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4" y="3886200"/>
            <a:ext cx="21031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55264" y="3886200"/>
            <a:ext cx="2103120" cy="3657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38144" y="3931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⚠️ Critical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4343400"/>
            <a:ext cx="173736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Sierra Leone: </a:t>
            </a:r>
            <a:r>
              <a:rPr lang="en-IN" dirty="0"/>
              <a:t>51</a:t>
            </a:r>
            <a:r>
              <a:rPr dirty="0"/>
              <a:t>.</a:t>
            </a:r>
            <a:r>
              <a:rPr lang="en-IN" dirty="0"/>
              <a:t>0</a:t>
            </a:r>
            <a:r>
              <a:rPr dirty="0"/>
              <a:t> years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Central African Rep: </a:t>
            </a:r>
            <a:r>
              <a:rPr lang="en-IN" dirty="0"/>
              <a:t>52.5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Chad: 53.1 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1264" y="3886200"/>
            <a:ext cx="21031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41264" y="3886200"/>
            <a:ext cx="2103120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24144" y="3931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🏥 Health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4343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BMI average: 38.32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HIV/AIDS: 1.74 average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Adult mortality: 164.80</a:t>
            </a:r>
          </a:p>
        </p:txBody>
      </p:sp>
    </p:spTree>
  </p:cSld>
  <p:clrMapOvr>
    <a:masterClrMapping/>
  </p:clrMapOvr>
  <p:transition spd="slow">
    <p:strip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365"/>
                </a:solidFill>
              </a:defRPr>
            </a:pPr>
            <a:r>
              <a:t>🔍  Our Diagnostic Analysis with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PYTHON DIAGNOSTIC ANALYTICS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We used Python and Jupyter Notebooks to answer "Why do some countries have higher life expectancy?":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🔬 Statistical Analysis: Calculated correlation coefficients between life expectancy and all variables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📊 Distribution Analysis: Examined data patterns, skewness, and normality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🔍 Data Quality Assessment: Analyzed missing values, outliers, and data completeness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📈 Relationship Mapping: Created scatter plots to visualize variable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0520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505200"/>
            <a:ext cx="3657600" cy="365760"/>
          </a:xfrm>
          <a:prstGeom prst="rect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5509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🔗 Correlation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624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Calculated all pairwise correlations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Identified strongest relationships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Statistical significance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50520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3505200"/>
            <a:ext cx="3657600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35509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Missing Value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624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Population: 22.2% missing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GDP: 15.3% missing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Life expectancy: 0.34% missing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5112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151120"/>
            <a:ext cx="3657600" cy="365760"/>
          </a:xfrm>
          <a:prstGeom prst="rect">
            <a:avLst/>
          </a:prstGeom>
          <a:solidFill>
            <a:srgbClr val="00C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1968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Distribution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083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Mean: 69.22 years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Std dev: 9.52 years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Slight left skew identified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5151120"/>
            <a:ext cx="3657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46320" y="5151120"/>
            <a:ext cx="3657600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51968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📈 Scatter Plot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083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Visual relationship patterns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Linear/non-linear relationships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Outlier identification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365"/>
                </a:solidFill>
              </a:defRPr>
            </a:pPr>
            <a:r>
              <a:t>🎯  Python Correlation Analysis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F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 CORRELATION FINDINGS WITH LIFE EXPECTANCY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Our statistical analysis revealed the most important factors influencing life expectancy globally: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Strong positive correlations indicate factors that increase life expectancy, while negative correlations show factors that decrease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76809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060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rPr dirty="0"/>
              <a:t>🎓 Education (Schooling)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651760"/>
            <a:ext cx="731520" cy="365760"/>
          </a:xfrm>
          <a:prstGeom prst="roundRect">
            <a:avLst/>
          </a:prstGeom>
          <a:solidFill>
            <a:srgbClr val="2ED5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r=0.7</a:t>
            </a:r>
            <a:r>
              <a:rPr lang="en-IN" dirty="0"/>
              <a:t>1</a:t>
            </a:r>
            <a:r>
              <a:rPr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Strongest positive predictor - Education enables better health choices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76809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rPr dirty="0"/>
              <a:t>💰 Income Composition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291840"/>
            <a:ext cx="731520" cy="365760"/>
          </a:xfrm>
          <a:prstGeom prst="roundRect">
            <a:avLst/>
          </a:prstGeom>
          <a:solidFill>
            <a:srgbClr val="00C88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r=0.</a:t>
            </a:r>
            <a:r>
              <a:rPr lang="en-IN" dirty="0"/>
              <a:t>692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Human development index - Knowledge-based economies perform better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79"/>
            <a:ext cx="76809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8619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🍎 BMI (Nutrition)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931919"/>
            <a:ext cx="731520" cy="36576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r=0.5</a:t>
            </a:r>
            <a:r>
              <a:rPr lang="en-IN" dirty="0"/>
              <a:t>59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1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rPr dirty="0"/>
              <a:t>Adequate nutrition essential - Undernourished populations suffer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59"/>
            <a:ext cx="76809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7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⚰️ Adult Mortality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571999"/>
            <a:ext cx="73152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r=-0.696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199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rPr dirty="0"/>
              <a:t>Strong negative impact - High adult death rates reduce overall longevity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76809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5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🦠 HIV/AIDS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5212079"/>
            <a:ext cx="731520" cy="365760"/>
          </a:xfrm>
          <a:prstGeom prst="roundRect">
            <a:avLst/>
          </a:prstGeom>
          <a:solidFill>
            <a:srgbClr val="FFB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r=-0.557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2120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Disease burden effect - Epidemic diseases significantly impact populations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D573"/>
                </a:solidFill>
              </a:defRPr>
            </a:pPr>
            <a:r>
              <a:t>🚀  Evidence-Based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DATA-DRIVEN POLICY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Based on our comprehensive descriptive and diagnostic analysis, we recommend focusing on these high-impact areas: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377440"/>
            <a:ext cx="548640" cy="548640"/>
          </a:xfrm>
          <a:prstGeom prst="ellipse">
            <a:avLst/>
          </a:prstGeom>
          <a:solidFill>
            <a:srgbClr val="2ED5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237744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154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Education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2077813" cy="1143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Universal primary &amp; 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lang="en-IN" dirty="0"/>
              <a:t>   </a:t>
            </a:r>
            <a:r>
              <a:rPr dirty="0"/>
              <a:t>secondary education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Adult literacy programs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Health education initiatives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Female education prioritization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023359" y="2377440"/>
            <a:ext cx="548640" cy="548640"/>
          </a:xfrm>
          <a:prstGeom prst="ellipse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39" y="3108960"/>
            <a:ext cx="237744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39" y="3108960"/>
            <a:ext cx="2377440" cy="3657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3154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Healthcare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66160"/>
            <a:ext cx="201168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Immunization program expansion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Adult mortality reduction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Primary healthcare access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Disease prevention focus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2377440"/>
            <a:ext cx="548640" cy="548640"/>
          </a:xfrm>
          <a:prstGeom prst="ellipse">
            <a:avLst/>
          </a:prstGeom>
          <a:solidFill>
            <a:srgbClr val="00C88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108960"/>
            <a:ext cx="237744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3108960"/>
            <a:ext cx="2377440" cy="365760"/>
          </a:xfrm>
          <a:prstGeom prst="rect">
            <a:avLst/>
          </a:prstGeom>
          <a:solidFill>
            <a:srgbClr val="00C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154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Nutrition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66160"/>
            <a:ext cx="201168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Child malnutrition prevention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Food security policies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Maternal health programs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Nutrition education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💡  Key Takeaways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COMPREHENSIVE ANALYSIS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Our dual-method analysis combining descriptive and diagnostic approaches revealed: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📊 DESCRIPTIVE INSIGHTS: Clear global patterns with 12+ year gap between developed/developing countries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🔍 DIAGNOSTIC INSIGHTS: Education emerges as strongest predictor (r=0.752) of life expectancy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🎯 POLICY IMPLICATIONS: Strategic investment in education, healthcare, and nutrition can improve outcomes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📈 SUCCESS STORIES: Countries like Chile prove high performance possible regardless of development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2286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2286000" cy="3657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3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🏃 Immediate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920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Expand data collection post-2015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Include environmental factors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Add sub-national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474720"/>
            <a:ext cx="2286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3474720"/>
            <a:ext cx="2286000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352043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🔬 Research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931920"/>
            <a:ext cx="1920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Causal inference studies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Machine learning models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Longitudinal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474720"/>
            <a:ext cx="2286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2160" y="3474720"/>
            <a:ext cx="2286000" cy="365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352043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931920"/>
            <a:ext cx="1920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Country-specific recommendations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Policy effectiveness tracking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</a:defRPr>
            </a:pPr>
            <a:r>
              <a:t>• Stakeholder engagement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1223</Words>
  <Application>Microsoft Office PowerPoint</Application>
  <PresentationFormat>On-screen Show (4:3)</PresentationFormat>
  <Paragraphs>218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Ahlawat</cp:lastModifiedBy>
  <cp:revision>4</cp:revision>
  <dcterms:created xsi:type="dcterms:W3CDTF">2013-01-27T09:14:16Z</dcterms:created>
  <dcterms:modified xsi:type="dcterms:W3CDTF">2025-10-15T07:55:15Z</dcterms:modified>
  <cp:category/>
</cp:coreProperties>
</file>